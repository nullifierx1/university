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58204421a4ba9" /><Relationship Type="http://schemas.openxmlformats.org/officeDocument/2006/relationships/extended-properties" Target="/docProps/app.xml" Id="R503f9c8c3ccc4173" /><Relationship Type="http://schemas.openxmlformats.org/officeDocument/2006/relationships/officeDocument" Target="/ppt/presentation.xml" Id="R7c53e2b7b57d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6307bf3a404845"/>
  </p:sldMasterIdLst>
  <p:notesMasterIdLst>
    <p:notesMasterId xmlns:r="http://schemas.openxmlformats.org/officeDocument/2006/relationships" r:id="Re702b67e566048f0"/>
  </p:notesMasterIdLst>
  <p:sldIdLst>
    <p:sldId xmlns:r="http://schemas.openxmlformats.org/officeDocument/2006/relationships" id="256" r:id="R28edcbd7b7be4923"/>
    <p:sldId xmlns:r="http://schemas.openxmlformats.org/officeDocument/2006/relationships" id="257" r:id="Rd8b7c1a498a34d6e"/>
    <p:sldId xmlns:r="http://schemas.openxmlformats.org/officeDocument/2006/relationships" id="258" r:id="Rbc10c2ce2c064fd6"/>
    <p:sldId xmlns:r="http://schemas.openxmlformats.org/officeDocument/2006/relationships" id="259" r:id="Rc2bc632832ae4b93"/>
    <p:sldId xmlns:r="http://schemas.openxmlformats.org/officeDocument/2006/relationships" id="260" r:id="Ra22f78c07ec643a3"/>
    <p:sldId xmlns:r="http://schemas.openxmlformats.org/officeDocument/2006/relationships" id="261" r:id="Rec738a1815f945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febcee523a4995" /><Relationship Type="http://schemas.openxmlformats.org/officeDocument/2006/relationships/slideMaster" Target="/ppt/slideMasters/slideMaster1.xml" Id="Ra06307bf3a404845" /><Relationship Type="http://schemas.openxmlformats.org/officeDocument/2006/relationships/notesMaster" Target="/ppt/notesMasters/notesMaster1.xml" Id="Re702b67e566048f0" /><Relationship Type="http://schemas.openxmlformats.org/officeDocument/2006/relationships/presProps" Target="/ppt/presProps.xml" Id="R35295112821b486a" /><Relationship Type="http://schemas.openxmlformats.org/officeDocument/2006/relationships/tableStyles" Target="/ppt/tableStyles.xml" Id="R17578ed93d744441" /><Relationship Type="http://schemas.openxmlformats.org/officeDocument/2006/relationships/slide" Target="/ppt/slides/slide1.xml" Id="R28edcbd7b7be4923" /><Relationship Type="http://schemas.openxmlformats.org/officeDocument/2006/relationships/slide" Target="/ppt/slides/slide2.xml" Id="Rd8b7c1a498a34d6e" /><Relationship Type="http://schemas.openxmlformats.org/officeDocument/2006/relationships/slide" Target="/ppt/slides/slide3.xml" Id="Rbc10c2ce2c064fd6" /><Relationship Type="http://schemas.openxmlformats.org/officeDocument/2006/relationships/slide" Target="/ppt/slides/slide4.xml" Id="Rc2bc632832ae4b93" /><Relationship Type="http://schemas.openxmlformats.org/officeDocument/2006/relationships/slide" Target="/ppt/slides/slide5.xml" Id="Ra22f78c07ec643a3" /><Relationship Type="http://schemas.openxmlformats.org/officeDocument/2006/relationships/slide" Target="/ppt/slides/slide6.xml" Id="Rec738a1815f9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1eb91d573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e5aa7d7d14046" /><Relationship Type="http://schemas.openxmlformats.org/officeDocument/2006/relationships/notesMaster" Target="/ppt/notesMasters/notesMaster1.xml" Id="Rf0d031d13788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85a51c8d734081" /><Relationship Type="http://schemas.openxmlformats.org/officeDocument/2006/relationships/notesMaster" Target="/ppt/notesMasters/notesMaster1.xml" Id="R91f3d5817742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953a663ab467e" /><Relationship Type="http://schemas.openxmlformats.org/officeDocument/2006/relationships/notesMaster" Target="/ppt/notesMasters/notesMaster1.xml" Id="Re346626b60d4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e03ff536d40e9" /><Relationship Type="http://schemas.openxmlformats.org/officeDocument/2006/relationships/notesMaster" Target="/ppt/notesMasters/notesMaster1.xml" Id="Rd4faf76e55a545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3fd2636f54916" /><Relationship Type="http://schemas.openxmlformats.org/officeDocument/2006/relationships/notesMaster" Target="/ppt/notesMasters/notesMaster1.xml" Id="R579601fd856649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ef10ac0c74cf8" /><Relationship Type="http://schemas.openxmlformats.org/officeDocument/2006/relationships/notesMaster" Target="/ppt/notesMasters/notesMaster1.xml" Id="Rf64851e20bac46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выбрал картину Григория Угрюмова «Призвание Михаила Фёдоровича Романова на царство 14 марта 1613 года». [Пауза 1 с] Она показывает не всю Смуту, а её финал: момент, когда после многолетнего кризиса страна ищет законную власть. Этот выбор определил дальнейшую судьбу государства. [ПЕРЕКЛЮЧИТЬ НА СЛАЙД 2]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0:21–1:15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Смутное время обычно относят к 1598–1613 годам. После смерти Фёдора Ивановича пресеклась прямая мужская линия Рюриковичей. [Пауза 1 с] Затем на династический кризис наложились голод, борьба за престол, народные выступления и иностранная интервенция. Кризис затронул всё общество. К 1611 году положение стало критическим: польский гарнизон находился в Москве, а шведы захватили Великий Новгород. [Пауза 1 с] Вопрос о царе стал главным. Второе земское ополчение Минина и Пожарского в 1612 году освободило Москву. Но военная победа ещё не завершала Смуту. Стране требовалась признанная всеми верховная власть. Поэтому Земский собор в феврале 1613 года избрал царём шестнадцатилетнего Михаила Романова. [Пауза 2 с] [ПЕРЕКЛЮЧИТЬ НА СЛАЙД 3]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Угрюмов написал полотно почти через два века после этого события. Поэтому перед нами не документальная фиксация, а историческое прочтение. Художник передаёт главное: после разорения и раздоров общество ищет согласие. [Пауза 1 с] Так событие получает человеческий смысл. Действие происходит в Ипатьевском монастыре в Костроме, куда из Москвы прибыло посольство. [ПЕРЕКЛЮЧИТЬ НА СЛАЙД 4]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центре картины стоит юный Михаил. Светлая одежда и ступени выделяют его среди тёмного пространства монастыря. Свет сразу направляет взгляд зрителя. Рядом изображена его мать, инокиня Марфа. Перед ними склонились участники посольства, а духовенство благословляет будущего царя. [Пауза 1 с] Важно, что Михаил не выглядит победителем, который сам завоевал трон. Делегация просит его принять царство. Это усиливает ощущение общего согласия. Так картина подчёркивает: власть должна появиться через общее признание. [ПЕРЕКЛЮЧИТЬ НА СЛАЙД 5]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2:23–2:50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лекции Михаил Романов стал компромиссной фигурой. Романовы были связаны с семьёй Ивана Грозного через Анастасию Романову, а сам Михаил не имел собственной сильной политической группировки. Новый царь объединял разные силы. Его кандидатуру могли принять разные силы. [Пауза 1 с] Таким образом, освобождение Москвы открыло путь к восстановлению государства, а избрание Михаила вернуло стране признанную верховную власть. Картина Угрюмова показывает, что выход из Смуты принёс не успех одной стороны, а согласие после кризиса. Последствия Смуты преодолевали десятилетиями. [ПЕРЕКЛЮЧИТЬ НА СЛАЙД 6]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2:50–2:55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Спасибо за внимание. [Пауза 2 с]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6d653f148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23b02beaa4ab4" /><Relationship Type="http://schemas.openxmlformats.org/officeDocument/2006/relationships/slideLayout" Target="/ppt/slideLayouts/slideLayout1.xml" Id="Rba1bc24b7f2a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bc24b7f2a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4040002d843cd" /><Relationship Type="http://schemas.openxmlformats.org/officeDocument/2006/relationships/image" Target="/ppt/media/image.jpeg" Id="R863c8af8c5d04948" /><Relationship Type="http://schemas.openxmlformats.org/officeDocument/2006/relationships/notesSlide" Target="/ppt/notesSlides/notesSlide1.xml" Id="Rc5b72af95bf24e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f9f94b8144c40" /><Relationship Type="http://schemas.openxmlformats.org/officeDocument/2006/relationships/notesSlide" Target="/ppt/notesSlides/notesSlide2.xml" Id="Rdcbc9c7f8db04c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f32f9188b46f2" /><Relationship Type="http://schemas.openxmlformats.org/officeDocument/2006/relationships/image" Target="/ppt/media/image2.jpeg" Id="Ra0d4accdd0fe4206" /><Relationship Type="http://schemas.openxmlformats.org/officeDocument/2006/relationships/notesSlide" Target="/ppt/notesSlides/notesSlide3.xml" Id="R042584431de6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f24994f34e03" /><Relationship Type="http://schemas.openxmlformats.org/officeDocument/2006/relationships/notesSlide" Target="/ppt/notesSlides/notesSlide4.xml" Id="R5d5171650404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457283a74e93" /><Relationship Type="http://schemas.openxmlformats.org/officeDocument/2006/relationships/notesSlide" Target="/ppt/notesSlides/notesSlide5.xml" Id="Rf4971f14ed2e40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e902bbff4097" /><Relationship Type="http://schemas.openxmlformats.org/officeDocument/2006/relationships/image" Target="/ppt/media/image3.jpeg" Id="R980fb904104d4d1e" /><Relationship Type="http://schemas.openxmlformats.org/officeDocument/2006/relationships/notesSlide" Target="/ppt/notesSlides/notesSlide6.xml" Id="R8e93b31ba504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c8af8c5d04948"/>
          <a:srcRect xmlns:a="http://schemas.openxmlformats.org/drawingml/2006/main" l="0" t="31405" r="0" b="31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A61F9-EF2D-4217-95CC-E0279A1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63340-E0D7-406F-AC9D-0946DA8A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6191250" cy="4953000"/>
          </a:xfrm>
          <a:prstGeom xmlns:a="http://schemas.openxmlformats.org/drawingml/2006/main" prst="roundRect">
            <a:avLst>
              <a:gd name="adj" fmla="val 3077"/>
            </a:avLst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B48E9-B09B-4B4D-A871-B4352E04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54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СМУТНОЕ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ВРЕМЯ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148DD-87B6-40B3-8778-FBAB094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F2C9B-C77C-423B-8F4F-5EB744EC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718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Финал кризиса в картине</a:t>
            </a:r>
          </a:p>
          <a:p xmlns:a="http://schemas.openxmlformats.org/drawingml/2006/main">
            <a:pPr algn="l">
              <a:defRPr sz="1875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Григория Угрюмова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ECC34-E957-43E1-B26F-A1D0AF1A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«Призвание Михаила Фёдоровича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Романова на царство»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3DD7A-46E1-4FB2-B127-52236FC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86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E2E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5E2EB"/>
                </a:solidFill>
                <a:latin typeface="DejaVu Sans"/>
                <a:ea typeface="DejaVu Sans"/>
                <a:cs typeface="DejaVu Sans"/>
              </a:rPr>
              <a:t>Видеоэссе · 2:50–2:55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8B49-B50A-45B2-A654-6988C7D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AB01B-CB2A-4462-A765-26EA306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9547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4D314-97A3-4613-A151-2121AE0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После войны нужен</a:t>
            </a:r>
          </a:p>
          <a:p xmlns:a="http://schemas.openxmlformats.org/drawingml/2006/main">
            <a:pPr algn="l">
              <a:defRPr sz="3225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законный государь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D10C9-C152-41FF-93A1-4E9381D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71BDF-3755-4F1F-B362-CBB2EA7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1598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BEC35-85B5-497C-9455-100A1B6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95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9E095-97D4-4BF3-AFD7-0F225B8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Прекращается прямая линия Рюриковичей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9B131-ADDF-481B-9997-0716E878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1612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8266-666C-4E34-9B54-1F8BADB1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9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89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E62A5-C5F9-4D4A-9191-160BC25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480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Второе ополчение освобождает Москву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A84E3-5C7E-420B-B1AE-A1AC03A5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9A5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C89A51"/>
                </a:solidFill>
                <a:latin typeface="DejaVu Sans"/>
                <a:ea typeface="DejaVu Sans"/>
                <a:cs typeface="DejaVu Sans"/>
              </a:rPr>
              <a:t>1613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84B4A-E2E1-4838-BB4F-3870751D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8C14E-9B18-4B92-9070-812957A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43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Земский собор избирает Михаила Романова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489F9-62C6-4597-96AF-4147FE4B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904875"/>
            <a:ext cx="3667125" cy="4762500"/>
          </a:xfrm>
          <a:prstGeom xmlns:a="http://schemas.openxmlformats.org/drawingml/2006/main" prst="roundRect">
            <a:avLst>
              <a:gd name="adj" fmla="val 415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5392A-E7F1-4359-AF9A-F6162F7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E2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D5E2EB"/>
                </a:solidFill>
                <a:latin typeface="DejaVu Sans"/>
                <a:ea typeface="DejaVu Sans"/>
                <a:cs typeface="DejaVu Sans"/>
              </a:rPr>
              <a:t>ГЛАВНЫЙ ПЕРЕХОД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F7176-24D1-456F-85EC-2A7EF56C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4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Освобождение Москвы ещё не означало конца Смуты.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5A6B5-20F5-4C58-9F06-683F661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Нужна была власть, которую готовы признать разные силы страны.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68B0B-A112-4555-8DEC-A65F9DA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C3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6C37A"/>
                </a:solidFill>
                <a:latin typeface="DejaVu Sans"/>
                <a:ea typeface="DejaVu Sans"/>
                <a:cs typeface="DejaVu Sans"/>
              </a:rPr>
              <a:t>[Пауза 2 с]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5450F-D17E-4DDC-AF52-DC436AE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F48E9-A683-4FC2-89F2-C24C8B3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5789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DDC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6BB33-DE6E-4648-8BDE-CFC3C21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Картина как историческое прочтение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E7A4C-BF55-4DE4-849B-B32ADAC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8177A-533B-4166-82B4-BD27E597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4524375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D0C0A9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4accdd0fe4206"/>
          <a:stretch xmlns:a="http://schemas.openxmlformats.org/drawingml/2006/main"/>
        </p:blipFill>
        <p:spPr>
          <a:xfrm xmlns:a="http://schemas.openxmlformats.org/drawingml/2006/main">
            <a:off x="1695411" y="1905000"/>
            <a:ext cx="2657554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B17E3-CDFA-401B-9986-71E8B53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ГРИГОРИЙ УГРЮМОВ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F016B-5760-4731-BD91-67CA43D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24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до 1800 года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99AF3-4056-43A4-B3E9-6434637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6196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3A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BD1F-0565-4FB1-AC88-7352C96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Полотно создано почти через два века после события. Оно передаёт не точную хронику, а смысл выбора после кризиса.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AB9F9-6A93-439B-AF01-D3100E3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625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Ипатьевский монастырь</a:t>
            </a:r>
          </a:p>
          <a:p xmlns:a="http://schemas.openxmlformats.org/drawingml/2006/main">
            <a:pPr algn="l">
              <a:defRPr sz="15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Кострома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BAFED-F4C0-4245-A56B-B51C9B17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B878B-97CD-45C9-8A0A-7FC1DE7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242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84739-9CEF-48B6-B7B3-881E02B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Что говорит композиция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35101-8E6C-413D-A27B-49879A2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00671-4F55-4BE4-B8D8-3B0DF14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DF376-9680-4884-9315-FA97A293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Свет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A7C64-F426-4ABB-A62B-8F756B2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Юный Михаил выделен светлой одеждой и ступенями.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7412D-DD16-43BD-9197-6F799E8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8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4C30E-9D48-4DB9-94DC-3D818113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63250-D6E3-4EAA-902A-E3B9AD7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Жесты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12C72-A05D-46A4-A7F8-AB7A97C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Посольство просит принять царство, а не подчиняется победителю.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8FE4E-D018-495A-A736-5500AA5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8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35296-0FD4-4704-8AF7-EEF8396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6C3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7F3C-A5E8-4F33-A8E1-376E9EE9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Пространство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36F0-3376-4248-BBAA-D927BF53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57725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6EDF2"/>
                </a:solidFill>
                <a:latin typeface="DejaVu Sans"/>
                <a:ea typeface="DejaVu Sans"/>
                <a:cs typeface="DejaVu Sans"/>
              </a:rPr>
              <a:t>Монастырь и духовенство подчёркивают религиозное значение выбора.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30DA5-05B8-41EA-9606-ED1B87A1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C37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E6C37A"/>
                </a:solidFill>
                <a:latin typeface="DejaVu Sans"/>
                <a:ea typeface="DejaVu Sans"/>
                <a:cs typeface="DejaVu Sans"/>
              </a:rPr>
              <a:t>Михаил не завоёвывает власть. Его приглашают принять её.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D52E0-1CB4-47A0-BD01-ACFE350B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42934-4E77-40DC-8397-C3F1DE1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4621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2D44E-5118-4AFE-B77C-076C077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Компромиссная фигура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A7B7B-0F19-4DE4-8168-553D660B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A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DEC1-4FB0-4A42-AC64-172A84A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Почему выбор пал на Михаила Романова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94C44-4F6A-4660-90DA-D4708BC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143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202CD-72CF-4914-A780-1A0C6824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405DE-C845-488E-9871-EB505C2E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Связь с прошлым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FA50F-28EB-4B0E-B79E-85CF0C3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Романовы были родственниками первой жены Ивана Грозного Анастасии Романовой.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D25DA-E6A4-48A8-BCB2-A29180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67000"/>
            <a:ext cx="3143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8852E-C596-4413-A3E3-02A57B65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52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22D29-CCF9-42FE-A054-51189FC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Приемлемость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C7653-F58E-48DE-99E5-8D19919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48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Михаил не имел собственной сильной политической группировки.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FFF2B-2A2A-495E-9C41-BF54CAAA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143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93FCE-9D8E-4B7E-8603-91F2DEC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89A5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B47EA-EEEF-411E-A310-538DC7B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7897"/>
                </a:solidFill>
                <a:latin typeface="DejaVu Sans"/>
                <a:ea typeface="DejaVu Sans"/>
                <a:cs typeface="DejaVu Sans"/>
              </a:rPr>
              <a:t>Общий выход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3C510-E332-46BD-9C55-F43EEFD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48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F2B25"/>
                </a:solidFill>
                <a:latin typeface="DejaVu Sans"/>
                <a:ea typeface="DejaVu Sans"/>
                <a:cs typeface="DejaVu Sans"/>
              </a:rPr>
              <a:t>Его избрание вернуло стране признанную верховную власть.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052B3-871E-414F-87DD-B1606BC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5CFF0-CC2E-44DC-8C8C-78A58019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923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43A"/>
                </a:solidFill>
                <a:latin typeface="DejaVu Sans"/>
                <a:ea typeface="DejaVu Sans"/>
                <a:cs typeface="DejaVu Sans"/>
              </a:rPr>
              <a:t>Выход из Смуты принесло согласие после кризиса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CD0D0-086D-4BF9-8607-A36A2AD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A7AF5-8957-4A56-9504-D2600E2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66D6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1956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fb904104d4d1e"/>
          <a:srcRect xmlns:a="http://schemas.openxmlformats.org/drawingml/2006/main" l="0" t="7981" r="0" b="7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38C7D-664B-402A-8F94-D232135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Смутное время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A1D2D-BCB5-4BAA-8D3D-53ABC0D3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8D4D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4536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2026-09-27T16:50:53.0320000Z</dcterms:created>
  <dcterms:modified xsi:type="dcterms:W3CDTF">2026-09-27T16:50:53.0320000Z</dcterms:modified>
</coreProperties>
</file>